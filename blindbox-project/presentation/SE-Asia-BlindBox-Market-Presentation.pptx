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1828800" cy="182880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1371600" cy="137160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"/>
            <a:ext cx="914400" cy="91440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5486400"/>
            <a:ext cx="731520" cy="73152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Southeast Asia Blind Box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69B4"/>
                </a:solidFill>
                <a:latin typeface="Microsoft YaHei"/>
              </a:defRPr>
            </a:pPr>
            <a:r>
              <a:t>Web Design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Market Analysis  |  Design Concepts  |  Style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Project Background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SE Asia blind box market CAGR: 28.5% (2023-2028)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Market size: $12B (2023) -&gt; $25B (2025E)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Pop Mart overseas revenue exceeded RMB 5B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Thailand, Indonesia, Vietnam as key drivers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Young demographics (median age 30)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Social media penetration driving purchases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Analyze SE Asia blind box market data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Design 10 web template concepts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Evaluate brand style alignment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Recommend best-fit solutions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Provide actionable design guidelines</a:t>
            </a:r>
          </a:p>
          <a:p>
            <a:pPr>
              <a:spcBef>
                <a:spcPts val="800"/>
              </a:spcBef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  Deliver deployable HTML prototypes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Global Blind Box 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429000"/>
            <a:ext cx="1645920" cy="1600200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FACFE"/>
                </a:solidFill>
                <a:latin typeface="Microsoft YaHei"/>
              </a:defRPr>
            </a:pPr>
            <a:r>
              <a:t>$70B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3086100"/>
            <a:ext cx="1645920" cy="1943099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27203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3E97B"/>
                </a:solidFill>
                <a:latin typeface="Microsoft YaHei"/>
              </a:defRPr>
            </a:pPr>
            <a:r>
              <a:t>$85B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628900"/>
            <a:ext cx="1645920" cy="24003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631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9B4"/>
                </a:solidFill>
                <a:latin typeface="Microsoft YaHei"/>
              </a:defRPr>
            </a:pPr>
            <a:r>
              <a:t>$105B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103120"/>
            <a:ext cx="1645920" cy="2926080"/>
          </a:xfrm>
          <a:prstGeom prst="round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2442"/>
                </a:solidFill>
                <a:latin typeface="Microsoft YaHei"/>
              </a:defRPr>
            </a:pPr>
            <a:r>
              <a:t>$128B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2025E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CAGR</a:t>
            </a:r>
            <a:br/>
            <a:r>
              <a:t>22.5%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Key 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Gen Z &amp; Millennials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Social Media (TikTok)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IP Collaborations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Plush Toy 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Southeast Asia 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ACFE"/>
                </a:solidFill>
                <a:latin typeface="Microsoft YaHei"/>
              </a:defRPr>
            </a:pPr>
            <a:r>
              <a:t>$1.2B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3E97B"/>
                </a:solidFill>
                <a:latin typeface="Microsoft YaHei"/>
              </a:defRPr>
            </a:pPr>
            <a:r>
              <a:t>$1.8B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3E97B"/>
                </a:solidFill>
                <a:latin typeface="Microsoft YaHei"/>
              </a:defRPr>
            </a:pPr>
            <a:r>
              <a:t>YoY: +50%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2025E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9B4"/>
                </a:solidFill>
                <a:latin typeface="Microsoft YaHei"/>
              </a:defRPr>
            </a:pPr>
            <a:r>
              <a:t>$2.5B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3E97B"/>
                </a:solidFill>
                <a:latin typeface="Microsoft YaHei"/>
              </a:defRPr>
            </a:pPr>
            <a:r>
              <a:t>YoY: +38.9%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Country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2024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YoY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Pop Mart Stores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9601200" cy="365760"/>
          </a:xfrm>
          <a:prstGeom prst="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9601200" cy="36576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Thailand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$550M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+57.1%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12 stores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97680"/>
            <a:ext cx="9601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Indonesia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$350M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+59.1%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 stores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663440"/>
            <a:ext cx="9601200" cy="36576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Vietnam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$280M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+55.6%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 stores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29200"/>
            <a:ext cx="9601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Malaysia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$230M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+53.3%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 stores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394960"/>
            <a:ext cx="9601200" cy="36576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Philippines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$190M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+58.3%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 stores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760720"/>
            <a:ext cx="9601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Singapore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$110M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+37.5%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 stores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Country Market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6400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Thailand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Market Size: $550M  |  Growth: +57.1%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Pop Mart Stores: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9B4"/>
                </a:solidFill>
                <a:latin typeface="Microsoft YaHei"/>
              </a:defRPr>
            </a:pPr>
            <a:r>
              <a:t>Hot IPs: Labubu, MOLLY, SKULLPANDA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Pop Mart #1 overseas market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Lisa (BLACKPINK) drove demand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3-5x resale premium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566160" cy="640080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34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Market Size: $350M  |  Growth: +59.1%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Pop Mart Stores: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9B4"/>
                </a:solidFill>
                <a:latin typeface="Microsoft YaHei"/>
              </a:defRPr>
            </a:pPr>
            <a:r>
              <a:t>Hot IPs: LABUBU, MOLLY, DIMOO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Largest population (270M+)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TikTok Shop key channel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Rising middle 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188720"/>
            <a:ext cx="3566160" cy="640080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34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Vietnam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Market Size: $280M  |  Growth: +55.6%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Pop Mart Stores: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9B4"/>
                </a:solidFill>
                <a:latin typeface="Microsoft YaHei"/>
              </a:defRPr>
            </a:pPr>
            <a:r>
              <a:t>Hot IPs: MOLLY, DIMOO, LABUBU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Young demographics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High social media penetration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Shopee/Lazada 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Brand Spotlight: Pop Mart (9992.HK)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Total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9B4"/>
                </a:solidFill>
                <a:latin typeface="Microsoft YaHei"/>
              </a:defRPr>
            </a:pPr>
            <a:r>
              <a:t>RMB 13.04B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3E97B"/>
                </a:solidFill>
                <a:latin typeface="Microsoft YaHei"/>
              </a:defRPr>
            </a:pPr>
            <a:r>
              <a:t>2024 Full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Overseas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9B4"/>
                </a:solidFill>
                <a:latin typeface="Microsoft YaHei"/>
              </a:defRPr>
            </a:pPr>
            <a:r>
              <a:t>RMB 5.07B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3E97B"/>
                </a:solidFill>
                <a:latin typeface="Microsoft YaHei"/>
              </a:defRPr>
            </a:pPr>
            <a:r>
              <a:t>+375% YoY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SE Asia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9B4"/>
                </a:solidFill>
                <a:latin typeface="Microsoft YaHei"/>
              </a:defRPr>
            </a:pPr>
            <a:r>
              <a:t>RMB 1.8B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3E97B"/>
                </a:solidFill>
                <a:latin typeface="Microsoft YaHei"/>
              </a:defRPr>
            </a:pPr>
            <a:r>
              <a:t>+414% YoY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Net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9B4"/>
                </a:solidFill>
                <a:latin typeface="Microsoft YaHei"/>
              </a:defRPr>
            </a:pPr>
            <a:r>
              <a:t>RMB 3.4B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3E97B"/>
                </a:solidFill>
                <a:latin typeface="Microsoft YaHei"/>
              </a:defRPr>
            </a:pPr>
            <a:r>
              <a:t>+186% YoY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5760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9B4"/>
                </a:solidFill>
                <a:latin typeface="Microsoft YaHei"/>
              </a:defRPr>
            </a:pPr>
            <a:r>
              <a:t>Labubu Phenomenon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  Created by artist Kasing Lung (Hong Kong)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  #1 selling IP for Pop Mart in 2024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  BLACKPINK Lisa spotted with Labubu products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  Thai princess endorsement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  Social media viral spread on TikTok/Instagram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  Resale market premium: 3-5x original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SE Asia Store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Thailand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4434840"/>
            <a:ext cx="1959428" cy="1828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37668" y="4389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9B4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Indonesia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4754880"/>
            <a:ext cx="979714" cy="1828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7954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9B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Vietnam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5074920"/>
            <a:ext cx="816428" cy="1828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94668" y="5029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9B4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Malaysia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394960"/>
            <a:ext cx="653142" cy="1828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1382" y="5349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9B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Philippines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5715000"/>
            <a:ext cx="489857" cy="1828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8097" y="5669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9B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Singapore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6035040"/>
            <a:ext cx="489857" cy="1828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8097" y="5989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9B4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Consumer Profile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Age Distribution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274320" cy="27432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18-24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9B4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274320" cy="274320"/>
          </a:xfrm>
          <a:prstGeom prst="ellipse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25-34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442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794760"/>
            <a:ext cx="274320" cy="2743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35-44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ACFE"/>
                </a:solidFill>
                <a:latin typeface="Microsoft YaHei"/>
              </a:defRPr>
            </a:pPr>
            <a:r>
              <a:t>18%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09160"/>
            <a:ext cx="274320" cy="27432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45+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E97B"/>
                </a:solidFill>
                <a:latin typeface="Microsoft YaHei"/>
              </a:defRPr>
            </a:pPr>
            <a:r>
              <a:t>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280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Gender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9B4"/>
                </a:solidFill>
                <a:latin typeface="Microsoft YaHei"/>
              </a:defRPr>
            </a:pPr>
            <a:r>
              <a:t>Female 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FACFE"/>
                </a:solidFill>
                <a:latin typeface="Microsoft YaHei"/>
              </a:defRPr>
            </a:pPr>
            <a:r>
              <a:t>Male 38%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49039"/>
            <a:ext cx="34747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Purchase 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Offline Retail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9B4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E-commerce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00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9B4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Pop-up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9B4"/>
                </a:solidFill>
                <a:latin typeface="Microsoft YaHei"/>
              </a:defRPr>
            </a:pPr>
            <a:r>
              <a:t>12%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Vending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623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9B4"/>
                </a:solidFill>
                <a:latin typeface="Microsoft YaHei"/>
              </a:defRPr>
            </a:pPr>
            <a:r>
              <a:t>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280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Spending Habits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Avg. Spend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442"/>
                </a:solidFill>
                <a:latin typeface="Microsoft YaHei"/>
              </a:defRPr>
            </a:pPr>
            <a:r>
              <a:t>$12.50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Monthly Frequency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383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CFE"/>
                </a:solidFill>
                <a:latin typeface="Microsoft YaHei"/>
              </a:defRPr>
            </a:pPr>
            <a:r>
              <a:t>2.8x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Top Categories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Designer Toy 40%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IP Plush 25%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Anime Figure 15%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Stationery 12%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Other 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10 Web Design Templates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731520" cy="7315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0972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83280" y="1371600"/>
            <a:ext cx="731520" cy="73152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Brand Official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0972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2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1371600"/>
            <a:ext cx="731520" cy="731520"/>
          </a:xfrm>
          <a:prstGeom prst="ellipse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Social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0972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0" y="1371600"/>
            <a:ext cx="731520" cy="73152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Data Viz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0972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1371600"/>
            <a:ext cx="731520" cy="7315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Minimalist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7280" y="4114800"/>
            <a:ext cx="731520" cy="73152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Street Style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38404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83280" y="4114800"/>
            <a:ext cx="731520" cy="73152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Kawaii Cute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38404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69280" y="4114800"/>
            <a:ext cx="731520" cy="7315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Sci-Fi Future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38404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55280" y="4114800"/>
            <a:ext cx="731520" cy="7315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Magazine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template-09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01200" y="384048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2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41280" y="4114800"/>
            <a:ext cx="731520" cy="731520"/>
          </a:xfrm>
          <a:prstGeom prst="ellipse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Immersive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template-10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Template Evaluation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0515600" cy="411480"/>
          </a:xfrm>
          <a:prstGeom prst="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Color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Interact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SEA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00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07 Kawaii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64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57400"/>
            <a:ext cx="10515600" cy="4572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03 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66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6032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10 Immersive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606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063240"/>
            <a:ext cx="10515600" cy="4572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02 Brand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56616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06 Street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6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069080"/>
            <a:ext cx="10515600" cy="4572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09 Magazine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1168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1752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2336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504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4088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0" y="4114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57200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08 Sci-Fi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1168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1752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504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8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074920"/>
            <a:ext cx="10515600" cy="4572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04 Data Viz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1168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1752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2336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504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088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672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57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57784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01 E-com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1168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1752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336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3504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672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52560" y="5623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52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5760" y="6080760"/>
            <a:ext cx="10515600" cy="4572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6126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05 Minimal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1168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1752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2336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2920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3504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4088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4672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2560" y="612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2442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442"/>
                </a:solidFill>
                <a:latin typeface="Microsoft YaHei"/>
              </a:defRPr>
            </a:pPr>
            <a:r>
              <a:t>Top 3 by SEA Fit: #1 Kawaii (9)  |  #2 Social Media (8)  |  #3 Brand Official / Immersive (7)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442"/>
                </a:solidFill>
                <a:latin typeface="Microsoft YaHei"/>
              </a:defRPr>
            </a:pPr>
            <a:r>
              <a:t>Recommendation #1: Kawaii Style (Template 07)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9B4"/>
                </a:solidFill>
                <a:latin typeface="Microsoft YaHei"/>
              </a:defRPr>
            </a:pPr>
            <a:r>
              <a:t>SEA Fit Score: 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Why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Cultural alignment: Kawaii culture extremely popular in Thailand, Philippines, Vietnam, Malaysia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Color strategy: Pink (#FF69B4) + soft gradients match young female user preferences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Visual richness: Falling hearts/stars animations, rounded cards, gradient backgrounds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Social-friendly: Cute style naturally suits Instagram/TikTok visual sharing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IP match: Perfectly fits LABUBU, MOLLY "ugly-cute" aesthetic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Optimization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Add responsive CSS for mobile-first design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Integrate LABUBU, MOLLY IP character visuals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Add purchase flow and price display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Support Thai, Vietnamese, Indonesian languages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Add "box opening" animation interaction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Integrate TikTok Shop / Shopee links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442"/>
                </a:solidFill>
                <a:latin typeface="Microsoft YaHei"/>
              </a:defRPr>
            </a:pPr>
            <a:r>
              <a:t>Recommendation #2: Social Media Style (Template 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2442"/>
                </a:solidFill>
                <a:latin typeface="Microsoft YaHei"/>
              </a:defRPr>
            </a:pPr>
            <a:r>
              <a:t>SEA Fit Score: 8/10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Key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SE Asia has highest social media usage globally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TikTok Shop explosive growth in the region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UGC content drives blind box "unboxing" culture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Mobile-first layout with bottom nav bar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Single-column feed naturally fits phone screens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Clear conversion: discover -&gt; engage -&gt; purchase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Integration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TikTok Shop / Shopee / Lazada purchase links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Unboxing video showcase functionality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Local KOL/influencer content display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Local payment: GrabPay, GoPay, PromptPay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Social sharing: LINE, Zalo, WhatsApp, TikTok</a:t>
            </a:r>
          </a:p>
          <a:p>
            <a:pPr>
              <a:spcBef>
                <a:spcPts val="1000"/>
              </a:spcBef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Hashtag campaigns and UGC gallery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Recommendation #3: Hybrid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Brand Official (Template 02) + Kawaii Style (Template 07)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" cy="2286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Hero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Full-screen layout from T02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Candy-color gradient (replace dark blue)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Brand statement + CTA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109728" cy="22860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Concept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3-column card layout from T02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Add cute illustrations + emoji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Warm color scheme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109728" cy="228600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Social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Simplified data display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Fan count, unbox count, rating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Visual proof of popularity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109728" cy="2286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Brand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Image-text layout from T02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Add IP character showcase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Cultural narrative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2336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109728" cy="2286000"/>
          </a:xfrm>
          <a:prstGeom prst="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Product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Rounded cards from T07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Gradient backgrounds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Cute labels + price tags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02336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4023360"/>
            <a:ext cx="109728" cy="2286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CTA + Footer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720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Rounded buttons from T07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Social share buttons</a:t>
            </a:r>
          </a:p>
          <a:p>
            <a:pPr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SE Asia social links (LINE, Zalo)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SE Asia Design Guidelines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Color Palette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20040" cy="27432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#FF69B4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Primary Pink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Kawaii aesthetic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320040" cy="274320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#4FACFE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Sky 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Fresh &amp; energetic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68880"/>
            <a:ext cx="320040" cy="274320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#43E97B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Mint 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Tropical vibe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34640"/>
            <a:ext cx="320040" cy="27432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#FFD93D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Warm Yellow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Thai market preference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200400"/>
            <a:ext cx="320040" cy="274320"/>
          </a:xfrm>
          <a:prstGeom prst="round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#FF2442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Action 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Price/CTA emphasis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Must-Have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Mobile-first design (&gt;80% mobile users)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Multi-language: Thai, Vietnamese, Indonesian, Malay, English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Local payments: GrabPay, GoPay, ShopeePay, PromptPay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Social sharing: LINE, Zalo, WhatsApp, TikTok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Lightweight pages (slow network in some areas)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Box-opening animation interaction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2025-2026 Design Trends in SE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442"/>
                </a:solidFill>
                <a:latin typeface="Microsoft YaHei"/>
              </a:defRPr>
            </a:pPr>
            <a:r>
              <a:t>"Ugly-Cute" Aesthetic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LABUBU-style merging quirky + 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442"/>
                </a:solidFill>
                <a:latin typeface="Microsoft YaHei"/>
              </a:defRPr>
            </a:pPr>
            <a:r>
              <a:t>Candy/Pastel Colors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4892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Soft, dreamy color palettes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8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442"/>
                </a:solidFill>
                <a:latin typeface="Microsoft YaHei"/>
              </a:defRPr>
            </a:pPr>
            <a:r>
              <a:t>Y2K Revival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8" y="4892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Millennium aesthetic comeback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442"/>
                </a:solidFill>
                <a:latin typeface="Microsoft YaHei"/>
              </a:defRPr>
            </a:pPr>
            <a:r>
              <a:t>Cultural Fusion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Local artist collaborations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59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442"/>
                </a:solidFill>
                <a:latin typeface="Microsoft YaHei"/>
              </a:defRPr>
            </a:pPr>
            <a:r>
              <a:t>Plush/Soft Materials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5806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Plush keychain blind boxes trending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8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442"/>
                </a:solidFill>
                <a:latin typeface="Microsoft YaHei"/>
              </a:defRPr>
            </a:pPr>
            <a:r>
              <a:t>Social-First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8" y="5806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TikTok/Instagram-friendly visuals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Project Deliverables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371600"/>
            <a:ext cx="914400" cy="91440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Market Data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SE Asia 6-country market analysis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JSON + Markdown formats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2023-2025 data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0" y="1371600"/>
            <a:ext cx="914400" cy="91440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Web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10 HTML design concepts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Zero external dependencies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Interactive prototypes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1371600"/>
            <a:ext cx="914400" cy="91440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Style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7-dimension scoring system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4 brand analysis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3 recommendation tiers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18872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0" y="1371600"/>
            <a:ext cx="914400" cy="9144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Acceptance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26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Overall score: 8.2/10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4 verification dimensions</a:t>
            </a:r>
          </a:p>
          <a:p>
            <a:pPr algn="ctr">
              <a:defRPr sz="1300">
                <a:solidFill>
                  <a:srgbClr val="BBBBBB"/>
                </a:solidFill>
                <a:latin typeface="Microsoft YaHei"/>
              </a:defRPr>
            </a:pPr>
            <a:r>
              <a:t>  Quality issue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Acceptance Scores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Data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Weight: 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Web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Microsoft YaHei"/>
              </a:defRPr>
            </a:pPr>
            <a:r>
              <a:t>7/10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Weight: 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Style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Weight: 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Microsoft YaHei"/>
              </a:defRPr>
            </a:pPr>
            <a:r>
              <a:t>8/10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Weight: 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8.2/10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Weight: 100%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442"/>
                </a:solidFill>
                <a:latin typeface="Microsoft YaHei"/>
              </a:defRPr>
            </a:pPr>
            <a:r>
              <a:t>Next Steps &amp;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517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280160"/>
            <a:ext cx="731520" cy="73152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Phase 1: Responsive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Add @media queries to all templates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Mobile-first approach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Test on 320px, 768px, 1024px breakpoints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6517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1280160"/>
            <a:ext cx="731520" cy="7315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Phase 2: A/B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Test top 3 templates in target markets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Measure conversion rates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Thailand, Vietnam, Philippines focus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97280"/>
            <a:ext cx="26517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1280160"/>
            <a:ext cx="731520" cy="73152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Phase 3: Local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Integrate local payment gateways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Connect TikTok Shop / Shopee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Add multi-language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097280"/>
            <a:ext cx="26517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0" y="1280160"/>
            <a:ext cx="731520" cy="73152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Phase 4: Content &amp;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Replace emoji with real product images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Add IP character illustrations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  Create box-opening animations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Priority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2442"/>
                </a:solidFill>
                <a:latin typeface="Microsoft YaHei"/>
              </a:defRPr>
            </a:pPr>
            <a:r>
              <a:t>[HIGH]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Responsive CSS for all templates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577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2442"/>
                </a:solidFill>
                <a:latin typeface="Microsoft YaHei"/>
              </a:defRPr>
            </a:pPr>
            <a:r>
              <a:t>[HIGH]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Mobile-first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8" y="5577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ACFE"/>
                </a:solidFill>
                <a:latin typeface="Microsoft YaHei"/>
              </a:defRPr>
            </a:pPr>
            <a:r>
              <a:t>[MEDIUM]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8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A/B testing in target markets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ACFE"/>
                </a:solidFill>
                <a:latin typeface="Microsoft YaHei"/>
              </a:defRPr>
            </a:pPr>
            <a:r>
              <a:t>[MEDIUM]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Local payment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5943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Microsoft YaHei"/>
              </a:defRPr>
            </a:pPr>
            <a:r>
              <a:t>[LOW]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9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Replace emoji with real images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8" y="5943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Microsoft YaHei"/>
              </a:defRPr>
            </a:pPr>
            <a:r>
              <a:t>[LOW]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8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JavaScript error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828800"/>
            <a:ext cx="1371600" cy="137160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1828800" cy="182880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5486400"/>
            <a:ext cx="731520" cy="73152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69B4"/>
                </a:solidFill>
                <a:latin typeface="Microsoft YaHei"/>
              </a:defRPr>
            </a:pPr>
            <a:r>
              <a:t>Southeast Asia Blind Box Market Web Design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2026.06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